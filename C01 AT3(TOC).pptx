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1" r:id="rId9"/>
    <p:sldId id="262" r:id="rId10"/>
    <p:sldId id="263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Theory of Computation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1–5 Overview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BB66D-A6E1-DF75-F006-B62D972A5691}"/>
              </a:ext>
            </a:extLst>
          </p:cNvPr>
          <p:cNvSpPr txBox="1"/>
          <p:nvPr/>
        </p:nvSpPr>
        <p:spPr>
          <a:xfrm>
            <a:off x="7352522" y="5467739"/>
            <a:ext cx="16457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K Gayathri</a:t>
            </a:r>
          </a:p>
          <a:p>
            <a:r>
              <a:rPr lang="en-IN"/>
              <a:t>Reg:192311448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 1: NFA to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 NFA allows multiple transitions.</a:t>
            </a:r>
          </a:p>
          <a:p>
            <a:pPr>
              <a:defRPr sz="2200"/>
            </a:pPr>
            <a:r>
              <a:rPr dirty="0"/>
              <a:t>DFA has exactly one transition per symbol.</a:t>
            </a:r>
          </a:p>
          <a:p>
            <a:pPr>
              <a:defRPr sz="2200"/>
            </a:pPr>
            <a:r>
              <a:rPr dirty="0"/>
              <a:t>Use subset construction.</a:t>
            </a:r>
          </a:p>
          <a:p>
            <a:pPr>
              <a:defRPr sz="2200"/>
            </a:pPr>
            <a:r>
              <a:rPr dirty="0"/>
              <a:t>Steps: start state, compute state subsets, mark final states.</a:t>
            </a:r>
          </a:p>
          <a:p>
            <a:pPr>
              <a:defRPr sz="2200"/>
            </a:pPr>
            <a:r>
              <a:rPr dirty="0"/>
              <a:t>Challenge: state explosion (up to 2^n states).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FA97F-C425-F335-B2DC-06C47BB8F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3" y="4060630"/>
            <a:ext cx="5730737" cy="22480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29A69-403E-EA78-7645-01A5D3CF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NFA TO DFA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87A267-A532-E94C-6F76-147B1DCCF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0941" y="1600200"/>
            <a:ext cx="720211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5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Question 2: Mathematical Induction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prove statements for all positive integers.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Case: verify n=1.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Induction Hypothesis: assume true for n=k.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Induction Step: prove for k+1.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statement is true for all 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80BBF-F911-A2CB-82EA-2E04FC13B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0852D95-8A43-7D86-58A2-89EB5FBB8F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Prove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/>
                        <m:t>1+2+3+⋯+</m:t>
                      </m:r>
                      <m:r>
                        <a:rPr lang="en-IN" sz="1800" i="1"/>
                        <m:t>𝑛</m:t>
                      </m:r>
                      <m:r>
                        <a:rPr lang="en-IN" sz="1800"/>
                        <m:t>=</m:t>
                      </m:r>
                      <m:f>
                        <m:fPr>
                          <m:ctrlPr>
                            <a:rPr lang="en-IN" sz="1800" i="1"/>
                          </m:ctrlPr>
                        </m:fPr>
                        <m:num>
                          <m:r>
                            <a:rPr lang="en-IN" sz="1800" i="1"/>
                            <m:t>𝑛</m:t>
                          </m:r>
                          <m:d>
                            <m:dPr>
                              <m:ctrlPr>
                                <a:rPr lang="en-IN" sz="1800" i="1"/>
                              </m:ctrlPr>
                            </m:dPr>
                            <m:e>
                              <m:r>
                                <a:rPr lang="en-IN" sz="1800" i="1"/>
                                <m:t>𝑛</m:t>
                              </m:r>
                              <m:r>
                                <a:rPr lang="en-IN" sz="1800"/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IN" sz="1800"/>
                            <m:t>2</m:t>
                          </m:r>
                        </m:den>
                      </m:f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 Case (n = 1):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LHS = 1                  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RHS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/>
                        </m:ctrlPr>
                      </m:fPr>
                      <m:num>
                        <m:r>
                          <a:rPr lang="en-IN" sz="1800"/>
                          <m:t>1</m:t>
                        </m:r>
                        <m:d>
                          <m:dPr>
                            <m:ctrlPr>
                              <a:rPr lang="en-IN" sz="1800" i="1"/>
                            </m:ctrlPr>
                          </m:dPr>
                          <m:e>
                            <m:r>
                              <a:rPr lang="en-IN" sz="1800"/>
                              <m:t>1+1</m:t>
                            </m:r>
                          </m:e>
                        </m:d>
                      </m:num>
                      <m:den>
                        <m:r>
                          <a:rPr lang="en-IN" sz="1800"/>
                          <m:t>2</m:t>
                        </m:r>
                      </m:den>
                    </m:f>
                    <m:r>
                      <a:rPr lang="en-IN" sz="1800"/>
                      <m:t>=1</m:t>
                    </m:r>
                  </m:oMath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LHS = RHS (True) </a:t>
                </a:r>
              </a:p>
              <a:p>
                <a:pPr marL="0" indent="0">
                  <a:buNone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Induction Hypothesis: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Assume the statement is true for </a:t>
                </a:r>
                <a14:m>
                  <m:oMath xmlns:m="http://schemas.openxmlformats.org/officeDocument/2006/math">
                    <m:r>
                      <a:rPr lang="en-IN" sz="1600" b="1" i="1"/>
                      <m:t>𝒏</m:t>
                    </m:r>
                    <m:r>
                      <a:rPr lang="en-IN" sz="1600" b="1"/>
                      <m:t>=</m:t>
                    </m:r>
                    <m:r>
                      <a:rPr lang="en-IN" sz="1600" b="1" i="1"/>
                      <m:t>𝒌</m:t>
                    </m:r>
                  </m:oMath>
                </a14:m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/>
                        <m:t>1+2+⋯+</m:t>
                      </m:r>
                      <m:r>
                        <a:rPr lang="en-IN" sz="1800" i="1"/>
                        <m:t>𝑘</m:t>
                      </m:r>
                      <m:r>
                        <a:rPr lang="en-IN" sz="1800"/>
                        <m:t>=</m:t>
                      </m:r>
                      <m:f>
                        <m:fPr>
                          <m:ctrlPr>
                            <a:rPr lang="en-IN" sz="1800" i="1"/>
                          </m:ctrlPr>
                        </m:fPr>
                        <m:num>
                          <m:r>
                            <a:rPr lang="en-IN" sz="1800" i="1"/>
                            <m:t>𝑘</m:t>
                          </m:r>
                          <m:d>
                            <m:dPr>
                              <m:ctrlPr>
                                <a:rPr lang="en-IN" sz="1800" i="1"/>
                              </m:ctrlPr>
                            </m:dPr>
                            <m:e>
                              <m:r>
                                <a:rPr lang="en-IN" sz="1800" i="1"/>
                                <m:t>𝑘</m:t>
                              </m:r>
                              <m:r>
                                <a:rPr lang="en-IN" sz="1800"/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IN" sz="1800"/>
                            <m:t>2</m:t>
                          </m:r>
                        </m:den>
                      </m:f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Induction Step: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Prove for </a:t>
                </a:r>
                <a14:m>
                  <m:oMath xmlns:m="http://schemas.openxmlformats.org/officeDocument/2006/math">
                    <m:r>
                      <a:rPr lang="en-IN" sz="1600" i="1"/>
                      <m:t>𝑛</m:t>
                    </m:r>
                    <m:r>
                      <a:rPr lang="en-IN" sz="1600"/>
                      <m:t>=</m:t>
                    </m:r>
                    <m:r>
                      <a:rPr lang="en-IN" sz="1600" i="1"/>
                      <m:t>𝑘</m:t>
                    </m:r>
                    <m:r>
                      <a:rPr lang="en-IN" sz="1600"/>
                      <m:t>+1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Add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/>
                        </m:ctrlPr>
                      </m:dPr>
                      <m:e>
                        <m:r>
                          <a:rPr lang="en-IN" sz="1400" i="1"/>
                          <m:t>𝑘</m:t>
                        </m:r>
                        <m:r>
                          <a:rPr lang="en-IN" sz="1400"/>
                          <m:t>+1</m:t>
                        </m:r>
                      </m:e>
                    </m:d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both sides</a:t>
                </a:r>
              </a:p>
              <a:p>
                <a:pPr marL="0" indent="0">
                  <a:buNone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/>
                        </m:ctrlPr>
                      </m:fPr>
                      <m:num>
                        <m:r>
                          <a:rPr lang="en-IN" sz="1400" i="1"/>
                          <m:t>𝑘</m:t>
                        </m:r>
                        <m:d>
                          <m:dPr>
                            <m:ctrlPr>
                              <a:rPr lang="en-IN" sz="1400" i="1"/>
                            </m:ctrlPr>
                          </m:dPr>
                          <m:e>
                            <m:r>
                              <a:rPr lang="en-IN" sz="1400" i="1"/>
                              <m:t>𝑘</m:t>
                            </m:r>
                            <m:r>
                              <a:rPr lang="en-IN" sz="1400"/>
                              <m:t>+1</m:t>
                            </m:r>
                          </m:e>
                        </m:d>
                      </m:num>
                      <m:den>
                        <m:r>
                          <a:rPr lang="en-IN" sz="1400"/>
                          <m:t>2</m:t>
                        </m:r>
                      </m:den>
                    </m:f>
                    <m:r>
                      <a:rPr lang="en-IN" sz="1400"/>
                      <m:t>+</m:t>
                    </m:r>
                    <m:d>
                      <m:dPr>
                        <m:ctrlPr>
                          <a:rPr lang="en-IN" sz="1400" i="1"/>
                        </m:ctrlPr>
                      </m:dPr>
                      <m:e>
                        <m:r>
                          <a:rPr lang="en-IN" sz="1400" i="1"/>
                          <m:t>𝑘</m:t>
                        </m:r>
                        <m:r>
                          <a:rPr lang="en-IN" sz="1400"/>
                          <m:t>+1</m:t>
                        </m:r>
                      </m:e>
                    </m:d>
                    <m:r>
                      <a:rPr lang="en-IN" sz="1400"/>
                      <m:t>=</m:t>
                    </m:r>
                    <m:f>
                      <m:fPr>
                        <m:ctrlPr>
                          <a:rPr lang="en-IN" sz="1400" i="1"/>
                        </m:ctrlPr>
                      </m:fPr>
                      <m:num>
                        <m:d>
                          <m:dPr>
                            <m:ctrlPr>
                              <a:rPr lang="en-IN" sz="1400" i="1"/>
                            </m:ctrlPr>
                          </m:dPr>
                          <m:e>
                            <m:r>
                              <a:rPr lang="en-IN" sz="1400" i="1"/>
                              <m:t>𝑘</m:t>
                            </m:r>
                            <m:r>
                              <a:rPr lang="en-IN" sz="1400"/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IN" sz="1400" i="1"/>
                            </m:ctrlPr>
                          </m:dPr>
                          <m:e>
                            <m:r>
                              <a:rPr lang="en-IN" sz="1400" i="1"/>
                              <m:t>𝑘</m:t>
                            </m:r>
                            <m:r>
                              <a:rPr lang="en-IN" sz="1400"/>
                              <m:t>+2</m:t>
                            </m:r>
                          </m:e>
                        </m:d>
                      </m:num>
                      <m:den>
                        <m:r>
                          <a:rPr lang="en-IN" sz="1400"/>
                          <m:t>2</m:t>
                        </m:r>
                      </m:den>
                    </m:f>
                  </m:oMath>
                </a14:m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Hence, the formula is true for </a:t>
                </a:r>
                <a14:m>
                  <m:oMath xmlns:m="http://schemas.openxmlformats.org/officeDocument/2006/math">
                    <m:r>
                      <a:rPr lang="en-IN" sz="1100" i="1"/>
                      <m:t>𝑘</m:t>
                    </m:r>
                    <m:r>
                      <a:rPr lang="en-IN" sz="1100"/>
                      <m:t>+1</m:t>
                    </m:r>
                  </m:oMath>
                </a14:m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Base case is true.    Induction step is true. </a:t>
                </a: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by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Induction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statement is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true for all positive integers </a:t>
                </a:r>
                <a14:m>
                  <m:oMath xmlns:m="http://schemas.openxmlformats.org/officeDocument/2006/math">
                    <m:r>
                      <a:rPr lang="en-IN" sz="2400" i="1"/>
                      <m:t>𝑛</m:t>
                    </m:r>
                  </m:oMath>
                </a14:m>
                <a:r>
                  <a:rPr lang="en-IN" sz="11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.</a:t>
                </a:r>
                <a:endParaRPr lang="en-IN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IN" sz="140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0852D95-8A43-7D86-58A2-89EB5FBB8F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0" t="-9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70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ε-NFA to NFA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 ε-transitions consume no input.</a:t>
            </a:r>
          </a:p>
          <a:p>
            <a:pPr>
              <a:defRPr sz="2200"/>
            </a:pPr>
            <a:r>
              <a:rPr dirty="0"/>
              <a:t>Compute ε-closure for every state.</a:t>
            </a:r>
          </a:p>
          <a:p>
            <a:pPr>
              <a:defRPr sz="2200"/>
            </a:pPr>
            <a:r>
              <a:rPr dirty="0"/>
              <a:t>Replace ε-moves with direct transitions.</a:t>
            </a:r>
          </a:p>
          <a:p>
            <a:pPr>
              <a:defRPr sz="2200"/>
            </a:pPr>
            <a:r>
              <a:rPr dirty="0"/>
              <a:t>Mark final states if ε-closure reaches a final state.</a:t>
            </a:r>
          </a:p>
          <a:p>
            <a:pPr>
              <a:defRPr sz="2200"/>
            </a:pPr>
            <a:r>
              <a:rPr dirty="0"/>
              <a:t>Remove all ε-transitions.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6A0C3B-A93E-87CE-4E22-827E46C9E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873" y="3863181"/>
            <a:ext cx="4610500" cy="1386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ε-NFA to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 Find ε-closures.</a:t>
            </a:r>
          </a:p>
          <a:p>
            <a:pPr>
              <a:defRPr sz="2200"/>
            </a:pPr>
            <a:r>
              <a:rPr dirty="0"/>
              <a:t> Create DFA states as sets of NFA states.</a:t>
            </a:r>
          </a:p>
          <a:p>
            <a:pPr>
              <a:defRPr sz="2200"/>
            </a:pPr>
            <a:r>
              <a:rPr dirty="0"/>
              <a:t>Compute transitions for 0 and 1.</a:t>
            </a:r>
          </a:p>
          <a:p>
            <a:pPr>
              <a:defRPr sz="2200"/>
            </a:pPr>
            <a:r>
              <a:rPr dirty="0"/>
              <a:t> Mark DFA accepting states.</a:t>
            </a:r>
          </a:p>
          <a:p>
            <a:pPr>
              <a:defRPr sz="2200"/>
            </a:pPr>
            <a:r>
              <a:rPr dirty="0"/>
              <a:t>DFA recognizes same language.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094C98-FDF8-BDF4-85CE-5164FD39D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48" y="3826690"/>
            <a:ext cx="3671427" cy="1905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 5: Key Comparison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50000"/>
              </a:lnSpc>
              <a:defRPr sz="2200"/>
            </a:pPr>
            <a:r>
              <a:rPr dirty="0"/>
              <a:t>DFA: deterministic.</a:t>
            </a:r>
          </a:p>
          <a:p>
            <a:pPr algn="just">
              <a:lnSpc>
                <a:spcPct val="250000"/>
              </a:lnSpc>
              <a:defRPr sz="2200"/>
            </a:pPr>
            <a:r>
              <a:rPr dirty="0"/>
              <a:t>NFA: multiple choices.</a:t>
            </a:r>
          </a:p>
          <a:p>
            <a:pPr algn="just">
              <a:lnSpc>
                <a:spcPct val="250000"/>
              </a:lnSpc>
              <a:defRPr sz="2200"/>
            </a:pPr>
            <a:r>
              <a:rPr dirty="0"/>
              <a:t>ε-NFA: includes ε-transitions.</a:t>
            </a:r>
          </a:p>
          <a:p>
            <a:pPr algn="just">
              <a:lnSpc>
                <a:spcPct val="250000"/>
              </a:lnSpc>
              <a:defRPr sz="2200"/>
            </a:pPr>
            <a:r>
              <a:rPr dirty="0"/>
              <a:t>All three accept regular languages.</a:t>
            </a:r>
          </a:p>
          <a:p>
            <a:pPr algn="just">
              <a:lnSpc>
                <a:spcPct val="250000"/>
              </a:lnSpc>
              <a:defRPr sz="2200"/>
            </a:pPr>
            <a:r>
              <a:rPr dirty="0"/>
              <a:t>DFA is preferred for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50000"/>
              </a:lnSpc>
              <a:defRPr sz="2200"/>
            </a:pPr>
            <a:r>
              <a:rPr dirty="0"/>
              <a:t>Lexical analysis.</a:t>
            </a:r>
          </a:p>
          <a:p>
            <a:pPr algn="just">
              <a:lnSpc>
                <a:spcPct val="250000"/>
              </a:lnSpc>
              <a:defRPr sz="2200"/>
            </a:pPr>
            <a:r>
              <a:rPr dirty="0"/>
              <a:t>Pattern matching.</a:t>
            </a:r>
          </a:p>
          <a:p>
            <a:pPr algn="just">
              <a:lnSpc>
                <a:spcPct val="250000"/>
              </a:lnSpc>
              <a:defRPr sz="2200"/>
            </a:pPr>
            <a:r>
              <a:rPr dirty="0"/>
              <a:t> Compiler design.</a:t>
            </a:r>
          </a:p>
          <a:p>
            <a:pPr algn="just">
              <a:lnSpc>
                <a:spcPct val="250000"/>
              </a:lnSpc>
              <a:defRPr sz="2200"/>
            </a:pPr>
            <a:r>
              <a:rPr dirty="0"/>
              <a:t>Network protocol verification.</a:t>
            </a:r>
          </a:p>
          <a:p>
            <a:pPr algn="just">
              <a:lnSpc>
                <a:spcPct val="250000"/>
              </a:lnSpc>
              <a:defRPr sz="2200"/>
            </a:pPr>
            <a:r>
              <a:rPr dirty="0"/>
              <a:t>Text searching.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50000"/>
              </a:lnSpc>
              <a:defRPr sz="2200"/>
            </a:pPr>
            <a:r>
              <a:rPr dirty="0"/>
              <a:t> NFA, ε-NFA and DFA are equivalent in power.</a:t>
            </a:r>
          </a:p>
          <a:p>
            <a:pPr algn="just">
              <a:lnSpc>
                <a:spcPct val="250000"/>
              </a:lnSpc>
              <a:defRPr sz="2200"/>
            </a:pPr>
            <a:r>
              <a:rPr dirty="0"/>
              <a:t> Conversions preserve the language.</a:t>
            </a:r>
          </a:p>
          <a:p>
            <a:pPr algn="just">
              <a:lnSpc>
                <a:spcPct val="250000"/>
              </a:lnSpc>
              <a:defRPr sz="2200"/>
            </a:pPr>
            <a:r>
              <a:rPr dirty="0"/>
              <a:t>Mathematical induction proves correctness.</a:t>
            </a:r>
          </a:p>
          <a:p>
            <a:pPr marL="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0504F-0D9F-F137-9286-F551A3C30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				</a:t>
            </a:r>
            <a:r>
              <a:rPr lang="en-IN" sz="4400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0649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402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Theory of Computation</vt:lpstr>
      <vt:lpstr>Question 1: NFA to DFA</vt:lpstr>
      <vt:lpstr>NFA TO DFA</vt:lpstr>
      <vt:lpstr>Question 2: Mathematical Induction</vt:lpstr>
      <vt:lpstr>EXAMPLE</vt:lpstr>
      <vt:lpstr>Question 3: ε-NFA to NFA</vt:lpstr>
      <vt:lpstr>Question 4: ε-NFA to DFA</vt:lpstr>
      <vt:lpstr>Question 5: Key Comparison </vt:lpstr>
      <vt:lpstr>Advantages &amp; Applications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arath</dc:creator>
  <cp:keywords/>
  <dc:description>generated using python-pptx</dc:description>
  <cp:lastModifiedBy>arathotikavya@gmail.com</cp:lastModifiedBy>
  <cp:revision>2</cp:revision>
  <dcterms:created xsi:type="dcterms:W3CDTF">2013-01-27T09:14:16Z</dcterms:created>
  <dcterms:modified xsi:type="dcterms:W3CDTF">2026-07-26T14:49:07Z</dcterms:modified>
  <cp:category/>
</cp:coreProperties>
</file>